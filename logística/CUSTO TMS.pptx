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9B6778-341A-41FC-B525-5CF17FD06B9F}" v="20" dt="2022-03-22T12:53:49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6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2C646-5245-4548-8CDE-5963D88F5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6D040D-904A-4EAF-9FF1-8C61E8D49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F54B3D-2BFD-4C17-9E0A-0AE7DA4A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5F80EA-6EC9-44AE-B61B-2BA74846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6CFF5A-34C1-446A-9775-BC06DBC2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42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BD2CA-B151-4217-A6D4-BE27E551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467880-9810-4B50-8A22-FA994B026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320872-CAC8-4F74-9371-3C3E6685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CD264B-9FE8-4504-A5C1-CD01B738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F1DB6B-A643-43DC-82E2-C68B722A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198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F68F9-2508-49C0-9B35-BF5C25792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CBE3D-ABB8-48CA-9AC4-3077354BF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46040-FC58-49DC-BCAA-7FCD68069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209256-D6CF-4C4A-A475-C4BD54B91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9C96C7-CDCD-4B65-A0C7-22536A285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355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8D500-C93C-4DBA-ACBD-DAC823A8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8C34A7-6A2E-4629-A178-89340C6AF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0101E4-3C1A-49FE-ADC4-52033EA24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A26BE6-437F-4C3A-B073-AF88B0085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5E14C0-6B33-4B39-8CE5-216FA9EC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8294CF-0A7D-401C-BA46-90885162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35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B25C7-98B2-46D0-9A2E-32CC081A1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B41DCD-0890-4367-83FD-914D8A56E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16D162-4961-425F-9BE4-58738C2ED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EC0F85-8F1D-4949-AD56-A729CDAA3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C0B0298-4051-4097-9450-69A3CE748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791A9EE-4C48-48F8-BD4C-AA34A960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87AA85-B88D-449C-8EA7-A35B6641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67C0F29-677B-4D80-89D7-246EF625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81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EACC-EF22-421F-8E60-DD0CF112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D3773A-7136-4C46-BF34-9ED15A51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06B8FC-EF60-415F-9AB8-4582BBD4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C48B7E-D963-460C-816C-9C597B73C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956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E56A2C-EEC7-4EEF-B7DE-4617C507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B208455-8DA1-4F6B-A296-B4206189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971A28-99F5-4C96-BF51-76CA0998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46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A9017-7348-43A8-90C7-8BB6975D0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2A5534-808F-4662-943A-1190EA62B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FC6E28-FAE5-4408-91F2-4447B269E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EC65D7-D46F-4F5D-A1AA-307C9B5A7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2DC52B-2C8E-4ECD-88AC-6D1FF07AE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041725-89E1-481F-87A6-ED06F64D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1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790B7-E498-4452-92E3-3E74DBA7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5E4E868-6F0F-449D-9B2D-2DEA6885C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4AB381-BCC7-4E24-B6C8-99F35C395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782C63-C4F7-41C4-82AD-BEB3F1B6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CAD39D-AAB3-491F-B7DF-3F46F013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FBA0C0-EF11-4D90-BD97-45CC4767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337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86BDA-393E-466D-999D-19914410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724E39-1181-47E4-8D7E-E9F55C623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5ED26B-2A80-40F2-A6E8-B2A98C47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5647C-870A-40D5-980C-9C9DE915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555DFA-C0CB-4687-A1EB-43B8C377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55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A5B817-69D4-4511-B35E-B1E03E0FB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0B1F5B-66D9-4BD5-8322-1D6AE3FFC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7C30A1-EB31-47BD-B8AA-AE4F2F37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E6150-4770-45C4-93BF-BAB59FE4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A03941-818B-4FD0-ABF9-673FD3D4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67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6C781F3-B183-4EEA-A96D-B3173B935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9B534B-BCAB-49D7-B3B6-08E1F0239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199667-9789-4A83-8EA3-BF6E08B18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17616-ED2D-40F8-B180-AB372742A4BB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68C615-143A-4829-AF30-E9D4E5B3D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A85586-A4FE-47D0-8AB7-7FA14C2FF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77A38-68BB-4CB9-810A-2AA3572435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11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5CDE2-0743-49D9-8247-AF2C394F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6"/>
            <a:ext cx="10515600" cy="724373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CUSTO TMS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479E5-2A31-4ECA-A09C-781CBDD73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556" y="814727"/>
            <a:ext cx="11634281" cy="5897363"/>
          </a:xfrm>
          <a:noFill/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2000" b="1" dirty="0"/>
              <a:t>PRINCÍPIOS CONTÁBEIS APLICADOS A CUSTOS</a:t>
            </a:r>
          </a:p>
          <a:p>
            <a:pPr marL="0" indent="0">
              <a:buNone/>
            </a:pPr>
            <a:r>
              <a:rPr lang="pt-BR" sz="1800" dirty="0"/>
              <a:t>“Com a publicação da Resolução n.º 750 do CFC a observância dos Princípios Fundamentais de Contabilidade passou a ser obrigatória, e a essência das transações deve prevalecer sobre os aspectos formais das mesmas.” Iudícibus &amp; Marion, p.97.</a:t>
            </a:r>
          </a:p>
          <a:p>
            <a:pPr marL="0" indent="0">
              <a:buNone/>
            </a:pPr>
            <a:r>
              <a:rPr lang="pt-BR" sz="1800" dirty="0"/>
              <a:t>Os PRINCÍPIOS CONTÁBEIS mais relevantes a serem observados no processo de CUSTEIO são os seguintes:</a:t>
            </a:r>
          </a:p>
          <a:p>
            <a:pPr marL="514350" indent="-514350">
              <a:buAutoNum type="arabicPeriod"/>
            </a:pPr>
            <a:r>
              <a:rPr lang="pt-BR" sz="1800" dirty="0"/>
              <a:t>ENTIDADE: o processo de CUSTEIO deve separar as RECEITAS e os RESPECTIVOS CUSTOS, o que possibilita apurar o RESULTADO referente a cada ENTIDADE e PERÍODO DE APURAÇÃO. No caso do TMS, deve-se considerar as entidades EMPRESA, FILIAL, ATIVIDADE, CLIENTE, FROTA/EQUIPAMENTO e VIAGEM.</a:t>
            </a:r>
          </a:p>
          <a:p>
            <a:pPr marL="514350" indent="-514350">
              <a:buAutoNum type="arabicPeriod"/>
            </a:pPr>
            <a:r>
              <a:rPr lang="pt-BR" sz="1800" dirty="0"/>
              <a:t>CONTINUIDADE: é a premissa de que a ENTIDADE irá operar de modo contínuo, o que implica que devem ser consideradas apenas RECEITAS CORRENTES e os RESPECTIVOS CUSTOS CORRENTES, não devendo ser considerados aquelas e aqueles que só se verificariam no caso da ENTIDADE encerrar suas atividades. </a:t>
            </a:r>
            <a:br>
              <a:rPr lang="pt-BR" sz="1800" dirty="0"/>
            </a:br>
            <a:r>
              <a:rPr lang="pt-BR" sz="1800" dirty="0"/>
              <a:t>Ex. não se considera valor venal nos ativos, mas sua depreciação mensal.</a:t>
            </a:r>
          </a:p>
          <a:p>
            <a:pPr marL="514350" indent="-514350">
              <a:buAutoNum type="arabicPeriod"/>
            </a:pPr>
            <a:r>
              <a:rPr lang="pt-BR" sz="1800" dirty="0"/>
              <a:t>COMPETÊNCIA e CONFRONTAÇÃO: determina que as RECEITAS de cada ENTIDADE devem ser RECONHECIDAS quando da sua realização, e a apropriação dos gastos (CUSTOS e DESPESAS) diretamente ligados a essas RECEITAS, independente dos seus respectivos prazos de RECEBIMENTO e PAGAMENTO, possibilitando assim a CONFRONTAÇÃO desses para cada ENTIDADE e PERÍODO DE APURAÇÃO DO RESULTADO.</a:t>
            </a:r>
            <a:br>
              <a:rPr lang="pt-BR" sz="1800" dirty="0"/>
            </a:br>
            <a:r>
              <a:rPr lang="pt-BR" sz="1800" dirty="0"/>
              <a:t>No caso do TMS, a apuração do RESULTADO das entidades EMPRESA, FILIAL, ATIVIDADE, CLIENTE, FROTA/EQUIPAMENTO, será o MÊS, enquanto para VIAGEM será o período decorrido em cada uma, independente o calendário, sendo o seu RESULTADO apurado no MÊS DE ENCERRAMENTO.</a:t>
            </a:r>
          </a:p>
          <a:p>
            <a:pPr marL="514350" indent="-514350">
              <a:buAutoNum type="arabicPeriod"/>
            </a:pPr>
            <a:r>
              <a:rPr lang="pt-BR" sz="1800" dirty="0"/>
              <a:t>COMPARABILIDADE: o reconhecimento de RECEITAS e CUSTOS devem ser feitos obedecendo aos mesmos critérios, de modo a possibilitar COMPARABILIDADE e CONSISTÊNCIA dos RESULTADOS da ENTIDADE ao longo do tempo.</a:t>
            </a:r>
          </a:p>
          <a:p>
            <a:pPr marL="514350" indent="-514350">
              <a:buAutoNum type="arabicPeriod"/>
            </a:pPr>
            <a:endParaRPr lang="pt-BR" sz="1800" dirty="0"/>
          </a:p>
          <a:p>
            <a:pPr marL="514350" indent="-514350">
              <a:buAutoNum type="arabicPeriod"/>
            </a:pPr>
            <a:endParaRPr lang="pt-BR" sz="18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648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5CDE2-0743-49D9-8247-AF2C394F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4"/>
            <a:ext cx="10515600" cy="724373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CUSTO TMS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479E5-2A31-4ECA-A09C-781CBDD73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315" y="2034746"/>
            <a:ext cx="11595370" cy="4598378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/>
              <a:t>ITENS A CUSTEAR POR VIAGEM</a:t>
            </a:r>
          </a:p>
          <a:p>
            <a:pPr marL="514350" indent="-514350">
              <a:buAutoNum type="arabicPeriod"/>
            </a:pPr>
            <a:r>
              <a:rPr lang="pt-BR" sz="1800" dirty="0"/>
              <a:t>Depreciação</a:t>
            </a:r>
          </a:p>
          <a:p>
            <a:pPr marL="514350" indent="-514350">
              <a:buAutoNum type="arabicPeriod"/>
            </a:pPr>
            <a:r>
              <a:rPr lang="pt-BR" sz="1800" dirty="0"/>
              <a:t>Manutenção</a:t>
            </a:r>
          </a:p>
          <a:p>
            <a:pPr marL="514350" indent="-514350">
              <a:buAutoNum type="arabicPeriod"/>
            </a:pPr>
            <a:r>
              <a:rPr lang="pt-BR" sz="1800" dirty="0"/>
              <a:t>Combustíveis </a:t>
            </a:r>
          </a:p>
          <a:p>
            <a:pPr marL="514350" indent="-514350">
              <a:buAutoNum type="arabicPeriod"/>
            </a:pPr>
            <a:r>
              <a:rPr lang="pt-BR" sz="1800" dirty="0"/>
              <a:t>Pneus</a:t>
            </a:r>
          </a:p>
          <a:p>
            <a:pPr marL="514350" indent="-514350">
              <a:buAutoNum type="arabicPeriod"/>
            </a:pPr>
            <a:r>
              <a:rPr lang="pt-BR" sz="1800" dirty="0"/>
              <a:t>Motorista (FOLHA DE PAGAMENTO): custo salarial, encargos sociais e provisões</a:t>
            </a:r>
          </a:p>
          <a:p>
            <a:pPr marL="514350" indent="-514350">
              <a:buAutoNum type="arabicPeriod"/>
            </a:pPr>
            <a:r>
              <a:rPr lang="pt-BR" sz="1800" dirty="0"/>
              <a:t>Motorista: diárias de viagem </a:t>
            </a:r>
          </a:p>
          <a:p>
            <a:pPr marL="514350" indent="-514350">
              <a:buAutoNum type="arabicPeriod"/>
            </a:pPr>
            <a:r>
              <a:rPr lang="pt-BR" sz="1800" dirty="0"/>
              <a:t>IPVA e Taxas de Licenciamento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pt-BR" sz="1800" dirty="0"/>
              <a:t>Seguro do Veículo</a:t>
            </a:r>
          </a:p>
          <a:p>
            <a:pPr marL="514350" indent="-514350">
              <a:buAutoNum type="arabicPeriod"/>
            </a:pPr>
            <a:r>
              <a:rPr lang="pt-BR" sz="1800" dirty="0"/>
              <a:t>Seguro da carga</a:t>
            </a:r>
          </a:p>
          <a:p>
            <a:pPr marL="514350" indent="-514350">
              <a:buAutoNum type="arabicPeriod"/>
            </a:pPr>
            <a:r>
              <a:rPr lang="pt-BR" sz="1800" dirty="0"/>
              <a:t>Pedágio e outros gastos diretos com a viagem</a:t>
            </a:r>
          </a:p>
          <a:p>
            <a:pPr marL="514350" indent="-514350">
              <a:buAutoNum type="arabicPeriod"/>
            </a:pPr>
            <a:r>
              <a:rPr lang="pt-BR" sz="1800" dirty="0"/>
              <a:t>Comissões incidentes na Viagem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B54A17-6B7A-4D2C-93EC-4F0ACB748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448"/>
            <a:ext cx="12120664" cy="14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1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5CDE2-0743-49D9-8247-AF2C394F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4"/>
            <a:ext cx="10515600" cy="724373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CUSTO TMS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479E5-2A31-4ECA-A09C-781CBDD73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013" y="2059866"/>
            <a:ext cx="11595370" cy="4783210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000" b="1" dirty="0"/>
              <a:t>ITENS A CUSTEAR POR VIAGEM</a:t>
            </a:r>
          </a:p>
          <a:p>
            <a:pPr marL="514350" indent="-514350">
              <a:buAutoNum type="arabicPeriod"/>
            </a:pPr>
            <a:r>
              <a:rPr lang="pt-BR" sz="1800" b="1" dirty="0"/>
              <a:t>Depreciação</a:t>
            </a:r>
            <a:r>
              <a:rPr lang="pt-BR" sz="1800" dirty="0"/>
              <a:t>:</a:t>
            </a:r>
            <a:br>
              <a:rPr lang="pt-BR" sz="1800" dirty="0"/>
            </a:br>
            <a:r>
              <a:rPr lang="pt-BR" sz="1800" dirty="0"/>
              <a:t>O valor mensal da DEPRECIAÇÃO referente a CADA ATIVO deve ser custeado PRÓ RATA DIA considerando-se os dias produtivos de cada VIAGEM no decorrer do no MÊS e os dias parados por manutenção ou sem viagem.</a:t>
            </a:r>
            <a:br>
              <a:rPr lang="pt-BR" sz="1800" dirty="0"/>
            </a:br>
            <a:r>
              <a:rPr lang="pt-BR" sz="1800" dirty="0"/>
              <a:t>Ex.: o Ativo A no Mês 1 terá 15/30 da DEPRECIAÇÃO mensal custeado na OS1 (tempo parado), 10/30 na V2 e 5/30 na V3 (quando de seu encerramento no Mês 2);  no Mês 2, o Ativo A terá 1/31 da DEPRECIAÇÃO mensal custeado na V3 e 30/31 na V4; o Ativo B no Mês 2 terá a 10/31 da DEPRECIAÇÃO mensal custado como tempo parado (sem serviço) e 21/31 na V5.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pt-BR" sz="1800" b="1" dirty="0"/>
              <a:t>Manutenção</a:t>
            </a:r>
            <a:r>
              <a:rPr lang="pt-BR" sz="1800" dirty="0"/>
              <a:t>:</a:t>
            </a:r>
            <a:br>
              <a:rPr lang="pt-BR" sz="1800" dirty="0"/>
            </a:br>
            <a:r>
              <a:rPr lang="pt-BR" sz="1800" dirty="0"/>
              <a:t>O valores de MANUTENÇÃO de cada Ativo relativos a cada mês devem ser custeados PRÓ RATA DIA nos PERÍODOS das VIAGENS realizadas no mesmo mês.</a:t>
            </a:r>
            <a:br>
              <a:rPr lang="pt-BR" sz="1800" dirty="0"/>
            </a:br>
            <a:r>
              <a:rPr lang="pt-BR" sz="1800" dirty="0"/>
              <a:t>Ex.: os gastos com MANUTENÇÃO do Ativo A no Mês 1 (OS1) serão custeados 10/30 na V2 e 5/30 na V3 (o dia 1 do Mês 2 não receberá gasto com  manutenção quando do encerramento da V3); os gastos com a MANUTENÇÃO DO Ativo B na OS2 serão custeados integralmente na V1; V4 e V5 não receberão gastos com MANUTENÇÃO.</a:t>
            </a:r>
            <a:br>
              <a:rPr lang="pt-BR" sz="1800" dirty="0"/>
            </a:br>
            <a:r>
              <a:rPr lang="pt-BR" sz="1800" dirty="0"/>
              <a:t>OBS: os gastos com LUBRIFICANTES são custeados nas OS (Corretiva e Preventiva), compondo, assim, o Custo da MANUTENÇÃO.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AE9606-A1D7-4795-8A7F-36BD752B0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" y="561936"/>
            <a:ext cx="12110936" cy="14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1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5CDE2-0743-49D9-8247-AF2C394F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4"/>
            <a:ext cx="10515600" cy="724373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CUSTO TMS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479E5-2A31-4ECA-A09C-781CBDD73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013" y="1991770"/>
            <a:ext cx="11595370" cy="4851305"/>
          </a:xfrm>
          <a:noFill/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sz="2000" b="1" dirty="0"/>
              <a:t>ITENS A CUSTEAR POR VIAGEM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pt-BR" sz="1800" b="1" dirty="0"/>
              <a:t>Combustíveis</a:t>
            </a:r>
            <a:r>
              <a:rPr lang="pt-BR" sz="1800" dirty="0"/>
              <a:t>:</a:t>
            </a:r>
            <a:br>
              <a:rPr lang="pt-BR" sz="1800" dirty="0"/>
            </a:br>
            <a:r>
              <a:rPr lang="pt-BR" sz="1800" dirty="0"/>
              <a:t>Os gastos com COMBUSTÍVEIS deverão ser custeados tomando-se por base o CUSTO de todos os abastecimentos realizados, AJUSTADO PARA O MÊS (OBS: tal ajuste foi objeto de customização da UNILINK no módulo MANUTENÇÃO DE ATIVOS e consta de relatório específico), que, dividido pelo TOTAL DE KM RODADOS no mês (MANUTENÇÃO DE ATIVOS), resulta no valor R$/km/mês do veículo. Tal valor multiplicado pela quantidade de Km rodados apontado ao final de cada viagem encerrada no mês resulta no CUSTO COM COMBUSTÍVEIS por VIAGEM para o mês.</a:t>
            </a:r>
            <a:br>
              <a:rPr lang="pt-BR" sz="1800" dirty="0"/>
            </a:br>
            <a:r>
              <a:rPr lang="pt-BR" sz="1800" dirty="0"/>
              <a:t>A diferença entre o TOTAL DE KM RODADOS no mês e a SOMA dos KM RODADOS DE TODAS AS VIAGENS encerradas no mês resulta na quantidade de Km FREE de cada veículo no mês, que multiplicado pelo valor R$/Km/mês de COMBUSTÍVEIS do veículo resulta no CUSTO COM COMBUSTÍVEIS - KM FREE de cada veículo que, somados, resulta no valor por modelo, atividade e frota em cada mês.</a:t>
            </a:r>
          </a:p>
          <a:p>
            <a:pPr marL="514350" indent="-514350">
              <a:buAutoNum type="arabicPeriod" startAt="3"/>
            </a:pPr>
            <a:r>
              <a:rPr lang="pt-BR" sz="1800" b="1" dirty="0"/>
              <a:t>Pneus: </a:t>
            </a:r>
            <a:br>
              <a:rPr lang="pt-BR" sz="1800" dirty="0"/>
            </a:br>
            <a:r>
              <a:rPr lang="pt-BR" sz="1800" dirty="0"/>
              <a:t>Os gastos com PNEUS deverão ser custeados tomando-se por base a soma do CUSTO/km (CPK) dos pneus instalados no veículo multiplicado pelo TOTAL DE KM RODADOS do veículo no mês (módulo Pneus/MANUTENÇÃO DE ATIVOS), o que resulta no valor R$/km/mês do veículo. Tal valor multiplicado pela quantidade de Km rodados apontado ao final de cada viagem resulta no CUSTO COM PNEUS por VIAGEM. </a:t>
            </a:r>
            <a:br>
              <a:rPr lang="pt-BR" sz="1800" dirty="0"/>
            </a:br>
            <a:r>
              <a:rPr lang="pt-BR" sz="1800" dirty="0"/>
              <a:t>A diferença entre o TOTAL DE KM RODADOS do veículo no mês e a SOMA dos KM RODADOS DE TODAS AS VIAGENS encerradas no mês resulta na quantidade de Km FREE de cada veículo no mês, que multiplicado pelo valor R$/Km/mês com PNEUS do veículo resulta no CUSTO COM PNEUS - KM FREE de cada veículo, modelo, e frota em cada mês.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AE9606-A1D7-4795-8A7F-36BD752B0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" y="561936"/>
            <a:ext cx="12110936" cy="14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0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5CDE2-0743-49D9-8247-AF2C394F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4"/>
            <a:ext cx="10515600" cy="724373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CUSTO TMS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479E5-2A31-4ECA-A09C-781CBDD73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013" y="1991770"/>
            <a:ext cx="11595370" cy="4851306"/>
          </a:xfrm>
          <a:noFill/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sz="2000" b="1" dirty="0"/>
              <a:t>ITENS A CUSTEAR POR VIAGEM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t-BR" sz="1800" b="1" dirty="0"/>
              <a:t>Custo Salarial do Motorista (FOLHA DE PAGAMENTO): salário, encargos sociais, benefícios e provisões (exceto diárias): </a:t>
            </a:r>
            <a:br>
              <a:rPr lang="pt-BR" sz="1800" b="1" dirty="0"/>
            </a:br>
            <a:r>
              <a:rPr lang="pt-BR" sz="1800" dirty="0"/>
              <a:t>Os gastos SALARIAIS DO MOTORISTA deverão ser custeados tomando-se por base a soma dos respectivos valores obtidos da FOLHA DE PAGAMENTO no mês divididos pelo quantidades de DIAS TOTAIS DO MÊS, o que resulta no valor R$/dia do veículo (de um ou mais motoristas no mês). Tal valor multiplicado pela quantidade de dias apontados ao final de cada viagem resulta no CUSTO COM MOTORISTA por VIAGEM. </a:t>
            </a:r>
            <a:br>
              <a:rPr lang="pt-BR" sz="1800" dirty="0"/>
            </a:br>
            <a:r>
              <a:rPr lang="pt-BR" sz="1800" dirty="0"/>
              <a:t>A diferença entre o TOTAL DE DIAS do mês e a SOMA dos DIAS DE TODAS AS VIAGENS encerradas no mês do veículo resulta na quantidade de DIAS OCIOSOS de MOTORISTA de cada veículo no mês, que multiplicado pelo valor R$/dia do CUSTO COM MOTORISTA do veículo do veículo resulta custo TOTAL DE OCIOSIDADE DO MOTORISTA de cada veículo, modelo, e frota em cada mês.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t-BR" sz="1800" b="1" dirty="0"/>
              <a:t>Motorista: diárias de viagem </a:t>
            </a:r>
            <a:br>
              <a:rPr lang="pt-BR" sz="1800" b="1" dirty="0"/>
            </a:br>
            <a:r>
              <a:rPr lang="pt-BR" sz="1800" dirty="0"/>
              <a:t>Os gastos com DIÁRIAS DE VIÁGEM serão custeados diretamente pelo TMS mediante a geração automática ou manual (em caso de diárias extras) para o CONTAS A PAGAR das diárias correspondentes a cada VIAGEM.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t-BR" sz="1800" b="1" dirty="0"/>
              <a:t>IPVA e Taxas de Licenciamento</a:t>
            </a:r>
            <a:br>
              <a:rPr lang="pt-BR" sz="1800" dirty="0"/>
            </a:br>
            <a:r>
              <a:rPr lang="pt-BR" sz="1800" dirty="0"/>
              <a:t>Os gastos anuais com IPVA e demais valores referentes ao Licenciamento dos veículos deverão ser custeados mensalmente, tomando-se o valor correspondente a 1/12 de cada um dessas valores e alocados a cada VEÍCULO e respectivas VIAGENS e TEMPO PARADO, de modo semelhando ao que está descrito par DEPRECIAÇÃO.</a:t>
            </a:r>
          </a:p>
          <a:p>
            <a:pPr marL="0" indent="0">
              <a:buNone/>
            </a:pPr>
            <a:endParaRPr lang="pt-BR" sz="18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AE9606-A1D7-4795-8A7F-36BD752B0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" y="561936"/>
            <a:ext cx="12110936" cy="14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09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5CDE2-0743-49D9-8247-AF2C394F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4"/>
            <a:ext cx="10515600" cy="724373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CUSTO TMS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479E5-2A31-4ECA-A09C-781CBDD73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013" y="1991770"/>
            <a:ext cx="11595370" cy="4851306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000" b="1" dirty="0"/>
              <a:t>ITENS A CUSTEAR POR VIAGEM</a:t>
            </a:r>
            <a:endParaRPr lang="pt-BR" sz="1800" b="1" dirty="0"/>
          </a:p>
          <a:p>
            <a:pPr marL="342900" indent="-342900">
              <a:buFont typeface="+mj-lt"/>
              <a:buAutoNum type="arabicPeriod" startAt="8"/>
            </a:pPr>
            <a:r>
              <a:rPr lang="pt-BR" sz="1800" b="1" dirty="0"/>
              <a:t>Seguro do Veículo</a:t>
            </a:r>
            <a:br>
              <a:rPr lang="pt-BR" sz="1800" b="1" dirty="0"/>
            </a:br>
            <a:r>
              <a:rPr lang="pt-BR" sz="1800" dirty="0"/>
              <a:t>Os gastos anuais com SEGURO DO VEÍCULO deverão ser custeados mensalmente, tomando-se o valor correspondente a 1/12 do PRÊMIO PAGO por cada VEÍCULO, sendo esse valor alocado às respectivas VIAGENS e TEMPO PARADO, de modo semelhando ao que está descrito par DEPRECIAÇÃO.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pt-BR" sz="1800" b="1" dirty="0"/>
              <a:t>Seguro de Carga</a:t>
            </a:r>
            <a:br>
              <a:rPr lang="pt-BR" sz="1800" b="1" dirty="0"/>
            </a:br>
            <a:r>
              <a:rPr lang="pt-BR" sz="1800" dirty="0"/>
              <a:t>Os gastos com SEGURO DE CARGA serão custeados diretamente pelo TMS mediante a geração automática na AVERBAÇÃO DO SEGURO (valor do PRÊMIO) correspondentes a cada VIAGEM.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pt-BR" sz="1800" b="1" dirty="0"/>
              <a:t>Pedágio e outros gastos diretos com a viagem</a:t>
            </a:r>
            <a:br>
              <a:rPr lang="pt-BR" sz="1800" b="1" dirty="0"/>
            </a:br>
            <a:r>
              <a:rPr lang="pt-BR" sz="1800" dirty="0"/>
              <a:t>Esses gastos diretos serão custeados pelo TMS mediante a informação dos mesmo no ato do ENCERRAMENTO DA VIAGEM.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pt-BR" sz="1800" b="1" dirty="0"/>
              <a:t>Comissões incidentes na Viagem: </a:t>
            </a:r>
            <a:r>
              <a:rPr lang="pt-BR" sz="1800" dirty="0"/>
              <a:t>idem 10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Obs.: Para os itens 1, 2, 4, 7 e 8, deverá ser considerado o conjunto dos ativos da viagem (cavalo mecânico + semirreboques).</a:t>
            </a:r>
          </a:p>
          <a:p>
            <a:pPr marL="342900" indent="-342900">
              <a:buFont typeface="+mj-lt"/>
              <a:buAutoNum type="arabicPeriod" startAt="8"/>
            </a:pPr>
            <a:endParaRPr lang="pt-BR" sz="18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AE9606-A1D7-4795-8A7F-36BD752B0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" y="561936"/>
            <a:ext cx="12110936" cy="14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5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5CDE2-0743-49D9-8247-AF2C394F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4"/>
            <a:ext cx="10515600" cy="724373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CUSTO TMS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479E5-2A31-4ECA-A09C-781CBDD73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013" y="1991770"/>
            <a:ext cx="11595370" cy="4851306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000" b="1" dirty="0"/>
              <a:t>DEMONSTRAÇÃO DO RESULTADO (DRE) POR VIAGEM</a:t>
            </a:r>
            <a:endParaRPr lang="pt-BR" sz="1800" b="1" dirty="0"/>
          </a:p>
          <a:p>
            <a:pPr marL="0" indent="0">
              <a:buNone/>
            </a:pPr>
            <a:r>
              <a:rPr lang="pt-BR" sz="1800" dirty="0"/>
              <a:t>Para cada VIAGEM ENCERRADA deverá ser emitido uma DRE da VIAGEM contendo:</a:t>
            </a:r>
          </a:p>
          <a:p>
            <a:pPr marL="0" indent="0">
              <a:buNone/>
            </a:pPr>
            <a:r>
              <a:rPr lang="pt-BR" sz="1800" dirty="0"/>
              <a:t>RECEITA OPERACIONAL BRUTA (ROB)</a:t>
            </a:r>
          </a:p>
          <a:p>
            <a:pPr marL="0" indent="0">
              <a:buNone/>
            </a:pPr>
            <a:r>
              <a:rPr lang="pt-BR" sz="1800" dirty="0"/>
              <a:t>(-) DEDUÇÕES DA RECEITA BRUTA</a:t>
            </a:r>
          </a:p>
          <a:p>
            <a:pPr lvl="1"/>
            <a:r>
              <a:rPr lang="pt-BR" sz="1800" dirty="0"/>
              <a:t>Cancelamentos / Descontos</a:t>
            </a:r>
          </a:p>
          <a:p>
            <a:pPr lvl="1"/>
            <a:r>
              <a:rPr lang="pt-BR" sz="1800" dirty="0"/>
              <a:t>Impostos Incidentes</a:t>
            </a:r>
          </a:p>
          <a:p>
            <a:pPr marL="0" indent="0">
              <a:buNone/>
            </a:pPr>
            <a:r>
              <a:rPr lang="pt-BR" sz="1800" dirty="0"/>
              <a:t>RECEITA OPERACIONAIS LÍQUIDA (ROL)</a:t>
            </a:r>
          </a:p>
          <a:p>
            <a:pPr marL="0" indent="0">
              <a:buNone/>
            </a:pPr>
            <a:r>
              <a:rPr lang="pt-BR" sz="1800" dirty="0"/>
              <a:t>(-) COMISSÕES SOBRE VENDAS</a:t>
            </a:r>
          </a:p>
          <a:p>
            <a:pPr marL="0" indent="0">
              <a:buNone/>
            </a:pPr>
            <a:r>
              <a:rPr lang="pt-BR" sz="1800" dirty="0"/>
              <a:t>RESULTADO COMERCIAL (ROC)</a:t>
            </a:r>
          </a:p>
          <a:p>
            <a:pPr marL="0" indent="0">
              <a:buNone/>
            </a:pPr>
            <a:r>
              <a:rPr lang="pt-BR" sz="1800" dirty="0"/>
              <a:t>(-) CUSTO DIRETO COM A VIAGEM (itens 1 a 10)</a:t>
            </a:r>
          </a:p>
          <a:p>
            <a:pPr marL="0" indent="0">
              <a:buNone/>
            </a:pPr>
            <a:r>
              <a:rPr lang="pt-BR" sz="1800" dirty="0"/>
              <a:t>RESULTADO BRUTO (ROB)</a:t>
            </a:r>
          </a:p>
          <a:p>
            <a:pPr marL="0" indent="0">
              <a:buNone/>
            </a:pPr>
            <a:r>
              <a:rPr lang="pt-BR" sz="1800" dirty="0"/>
              <a:t>EBITIDA (ROB + DEPRECIAÇÃO)</a:t>
            </a:r>
          </a:p>
          <a:p>
            <a:pPr marL="0" indent="0">
              <a:buNone/>
            </a:pPr>
            <a:r>
              <a:rPr lang="pt-BR" sz="1800" dirty="0"/>
              <a:t>Deverá ser possível obter a soma das DRE para o mês por CLIENTE, ATIVIDADE, VEÍCULO, EMPRESA E FILIAL.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AE9606-A1D7-4795-8A7F-36BD752B0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" y="561936"/>
            <a:ext cx="12110936" cy="14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3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1498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CUSTO TMS</vt:lpstr>
      <vt:lpstr>CUSTO TMS</vt:lpstr>
      <vt:lpstr>CUSTO TMS</vt:lpstr>
      <vt:lpstr>CUSTO TMS</vt:lpstr>
      <vt:lpstr>CUSTO TMS</vt:lpstr>
      <vt:lpstr>CUSTO TMS</vt:lpstr>
      <vt:lpstr>CUSTO TMS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 TMS</dc:title>
  <dc:creator>Raimundo Porto Filho</dc:creator>
  <cp:lastModifiedBy>Raimundo Porto Filho</cp:lastModifiedBy>
  <cp:revision>42</cp:revision>
  <dcterms:created xsi:type="dcterms:W3CDTF">2022-03-22T11:32:21Z</dcterms:created>
  <dcterms:modified xsi:type="dcterms:W3CDTF">2022-03-30T11:32:50Z</dcterms:modified>
</cp:coreProperties>
</file>